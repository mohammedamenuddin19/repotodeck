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AutoShape 2" id="2"/>
          <p:cNvSpPr/>
          <p:nvPr/>
        </p:nvSpPr>
        <p:spPr>
          <a:xfrm>
            <a:off x="6985000" y="1524000"/>
            <a:ext cx="2286000" cy="1143000"/>
          </a:xfrm>
          <a:prstGeom prst="roundRect">
            <a:avLst/>
          </a:prstGeom>
          <a:solidFill>
            <a:srgbClr val="0072C6"/>
          </a:solidFill>
          <a:ln w="19050">
            <a:solidFill>
              <a:srgbClr val="404040"/>
            </a:solidFill>
          </a:ln>
        </p:spPr>
        <p:txBody>
          <a:p>
            <a:pPr algn="ctr"/>
            <a:r>
              <a:rPr lang="en-US" sz="1400" b="true">
                <a:solidFill>
                  <a:srgbClr val="FFFFFF"/>
                </a:solidFill>
                <a:latin typeface="Arial"/>
              </a:rPr>
              <a:t>web</a:t>
            </a:r>
            <a:r>
              <a:rPr lang="en-US" sz="1000">
                <a:solidFill>
                  <a:srgbClr val="E6E6E6"/>
                </a:solidFill>
              </a:rPr>
              <a:t>
(nginx:latest)</a:t>
            </a:r>
          </a:p>
        </p:txBody>
      </p:sp>
      <p:sp>
        <p:nvSpPr>
          <p:cNvPr name="AutoShape 3" id="3"/>
          <p:cNvSpPr/>
          <p:nvPr/>
        </p:nvSpPr>
        <p:spPr>
          <a:xfrm>
            <a:off x="6985000" y="3810000"/>
            <a:ext cx="2286000" cy="1143000"/>
          </a:xfrm>
          <a:prstGeom prst="roundRect">
            <a:avLst/>
          </a:prstGeom>
          <a:solidFill>
            <a:srgbClr val="0072C6"/>
          </a:solidFill>
          <a:ln w="19050">
            <a:solidFill>
              <a:srgbClr val="404040"/>
            </a:solidFill>
          </a:ln>
        </p:spPr>
        <p:txBody>
          <a:p>
            <a:pPr algn="ctr"/>
            <a:r>
              <a:rPr lang="en-US" sz="1400" b="true">
                <a:solidFill>
                  <a:srgbClr val="FFFFFF"/>
                </a:solidFill>
                <a:latin typeface="Arial"/>
              </a:rPr>
              <a:t>api</a:t>
            </a:r>
            <a:r>
              <a:rPr lang="en-US" sz="1000">
                <a:solidFill>
                  <a:srgbClr val="E6E6E6"/>
                </a:solidFill>
              </a:rPr>
              <a:t>
(node:18)</a:t>
            </a:r>
          </a:p>
        </p:txBody>
      </p:sp>
      <p:sp>
        <p:nvSpPr>
          <p:cNvPr name="AutoShape 4" id="4"/>
          <p:cNvSpPr/>
          <p:nvPr/>
        </p:nvSpPr>
        <p:spPr>
          <a:xfrm>
            <a:off x="5461000" y="6096000"/>
            <a:ext cx="2286000" cy="1143000"/>
          </a:xfrm>
          <a:prstGeom prst="flowChartMagneticDisk">
            <a:avLst/>
          </a:prstGeom>
          <a:solidFill>
            <a:srgbClr val="FF8C00"/>
          </a:solidFill>
          <a:ln w="19050">
            <a:solidFill>
              <a:srgbClr val="404040"/>
            </a:solidFill>
          </a:ln>
        </p:spPr>
        <p:txBody>
          <a:p>
            <a:pPr algn="ctr"/>
            <a:r>
              <a:rPr lang="en-US" sz="1400" b="true">
                <a:solidFill>
                  <a:srgbClr val="FFFFFF"/>
                </a:solidFill>
                <a:latin typeface="Arial"/>
              </a:rPr>
              <a:t>db</a:t>
            </a:r>
            <a:r>
              <a:rPr lang="en-US" sz="1000">
                <a:solidFill>
                  <a:srgbClr val="E6E6E6"/>
                </a:solidFill>
              </a:rPr>
              <a:t>
(postgres:15)</a:t>
            </a:r>
          </a:p>
        </p:txBody>
      </p:sp>
      <p:sp>
        <p:nvSpPr>
          <p:cNvPr name="AutoShape 5" id="5"/>
          <p:cNvSpPr/>
          <p:nvPr/>
        </p:nvSpPr>
        <p:spPr>
          <a:xfrm>
            <a:off x="8509000" y="6096000"/>
            <a:ext cx="2286000" cy="1143000"/>
          </a:xfrm>
          <a:prstGeom prst="roundRect">
            <a:avLst/>
          </a:prstGeom>
          <a:solidFill>
            <a:srgbClr val="0072C6"/>
          </a:solidFill>
          <a:ln w="19050">
            <a:solidFill>
              <a:srgbClr val="404040"/>
            </a:solidFill>
          </a:ln>
        </p:spPr>
        <p:txBody>
          <a:p>
            <a:pPr algn="ctr"/>
            <a:r>
              <a:rPr lang="en-US" sz="1400" b="true">
                <a:solidFill>
                  <a:srgbClr val="FFFFFF"/>
                </a:solidFill>
                <a:latin typeface="Arial"/>
              </a:rPr>
              <a:t>cache</a:t>
            </a:r>
            <a:r>
              <a:rPr lang="en-US" sz="1000">
                <a:solidFill>
                  <a:srgbClr val="E6E6E6"/>
                </a:solidFill>
              </a:rPr>
              <a:t>
(redis:7)</a:t>
            </a:r>
          </a:p>
        </p:txBody>
      </p:sp>
      <p:sp>
        <p:nvSpPr>
          <p:cNvPr name="AutoShape 6" id="6"/>
          <p:cNvSpPr/>
          <p:nvPr/>
        </p:nvSpPr>
        <p:spPr>
          <a:xfrm flipV="true">
            <a:off x="6604000" y="2095500"/>
            <a:ext cx="1524000" cy="4572000"/>
          </a:xfrm>
          <a:prstGeom prst="line">
            <a:avLst/>
          </a:prstGeom>
          <a:ln w="19050">
            <a:solidFill>
              <a:srgbClr val="808080"/>
            </a:solidFill>
          </a:ln>
        </p:spPr>
      </p:sp>
      <p:sp>
        <p:nvSpPr>
          <p:cNvPr name="AutoShape 7" id="7"/>
          <p:cNvSpPr/>
          <p:nvPr/>
        </p:nvSpPr>
        <p:spPr>
          <a:xfrm>
            <a:off x="8128000" y="2095500"/>
            <a:ext cx="1524000" cy="4572000"/>
          </a:xfrm>
          <a:prstGeom prst="line">
            <a:avLst/>
          </a:prstGeom>
          <a:ln w="19050">
            <a:solidFill>
              <a:srgbClr val="808080"/>
            </a:solidFill>
          </a:ln>
        </p:spPr>
      </p:sp>
      <p:sp>
        <p:nvSpPr>
          <p:cNvPr name="AutoShape 8" id="8"/>
          <p:cNvSpPr/>
          <p:nvPr/>
        </p:nvSpPr>
        <p:spPr>
          <a:xfrm flipV="true">
            <a:off x="6604000" y="4381500"/>
            <a:ext cx="1524000" cy="2286000"/>
          </a:xfrm>
          <a:prstGeom prst="line">
            <a:avLst/>
          </a:prstGeom>
          <a:ln w="19050">
            <a:solidFill>
              <a:srgbClr val="808080"/>
            </a:solidFill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