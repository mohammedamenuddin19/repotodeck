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24384000" cy="13716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9620770">
            <a:off x="6693014" y="4114800"/>
            <a:ext cx="5663972" cy="25400"/>
          </a:xfrm>
          <a:prstGeom prst="rect">
            <a:avLst/>
          </a:prstGeom>
          <a:solidFill>
            <a:srgbClr val="9CA3AF"/>
          </a:solidFill>
          <a:ln>
            <a:solidFill>
              <a:srgbClr val="9CA3AF"/>
            </a:solidFill>
          </a:ln>
        </p:spPr>
      </p:sp>
      <p:sp>
        <p:nvSpPr>
          <p:cNvPr name="AutoShape 3" id="3"/>
          <p:cNvSpPr/>
          <p:nvPr/>
        </p:nvSpPr>
        <p:spPr>
          <a:xfrm rot="7981503">
            <a:off x="10000089" y="4114800"/>
            <a:ext cx="2605822" cy="25400"/>
          </a:xfrm>
          <a:prstGeom prst="rect">
            <a:avLst/>
          </a:prstGeom>
          <a:solidFill>
            <a:srgbClr val="9CA3AF"/>
          </a:solidFill>
          <a:ln>
            <a:solidFill>
              <a:srgbClr val="9CA3AF"/>
            </a:solidFill>
          </a:ln>
        </p:spPr>
      </p:sp>
      <p:sp>
        <p:nvSpPr>
          <p:cNvPr name="AutoShape 4" id="4"/>
          <p:cNvSpPr/>
          <p:nvPr/>
        </p:nvSpPr>
        <p:spPr>
          <a:xfrm rot="2818496">
            <a:off x="11778089" y="4114800"/>
            <a:ext cx="2605822" cy="25400"/>
          </a:xfrm>
          <a:prstGeom prst="rect">
            <a:avLst/>
          </a:prstGeom>
          <a:solidFill>
            <a:srgbClr val="9CA3AF"/>
          </a:solidFill>
          <a:ln>
            <a:solidFill>
              <a:srgbClr val="9CA3AF"/>
            </a:solidFill>
          </a:ln>
        </p:spPr>
      </p:sp>
      <p:sp>
        <p:nvSpPr>
          <p:cNvPr name="AutoShape 5" id="5"/>
          <p:cNvSpPr/>
          <p:nvPr/>
        </p:nvSpPr>
        <p:spPr>
          <a:xfrm rot="2818496">
            <a:off x="6444089" y="7289800"/>
            <a:ext cx="2605822" cy="25400"/>
          </a:xfrm>
          <a:prstGeom prst="rect">
            <a:avLst/>
          </a:prstGeom>
          <a:solidFill>
            <a:srgbClr val="9CA3AF"/>
          </a:solidFill>
          <a:ln>
            <a:solidFill>
              <a:srgbClr val="9CA3AF"/>
            </a:solidFill>
          </a:ln>
        </p:spPr>
      </p:sp>
      <p:sp>
        <p:nvSpPr>
          <p:cNvPr name="AutoShape 6" id="6"/>
          <p:cNvSpPr/>
          <p:nvPr/>
        </p:nvSpPr>
        <p:spPr>
          <a:xfrm rot="2818496">
            <a:off x="10000089" y="7289800"/>
            <a:ext cx="2605822" cy="25400"/>
          </a:xfrm>
          <a:prstGeom prst="rect">
            <a:avLst/>
          </a:prstGeom>
          <a:solidFill>
            <a:srgbClr val="9CA3AF"/>
          </a:solidFill>
          <a:ln>
            <a:solidFill>
              <a:srgbClr val="9CA3AF"/>
            </a:solidFill>
          </a:ln>
        </p:spPr>
      </p:sp>
      <p:sp>
        <p:nvSpPr>
          <p:cNvPr name="AutoShape 7" id="7"/>
          <p:cNvSpPr/>
          <p:nvPr/>
        </p:nvSpPr>
        <p:spPr>
          <a:xfrm rot="2818496">
            <a:off x="13556089" y="7289800"/>
            <a:ext cx="2605822" cy="25400"/>
          </a:xfrm>
          <a:prstGeom prst="rect">
            <a:avLst/>
          </a:prstGeom>
          <a:solidFill>
            <a:srgbClr val="9CA3AF"/>
          </a:solidFill>
          <a:ln>
            <a:solidFill>
              <a:srgbClr val="9CA3AF"/>
            </a:solidFill>
          </a:ln>
        </p:spPr>
      </p:sp>
      <p:sp>
        <p:nvSpPr>
          <p:cNvPr name="AutoShape 8" id="8"/>
          <p:cNvSpPr/>
          <p:nvPr/>
        </p:nvSpPr>
        <p:spPr>
          <a:xfrm rot="10800000">
            <a:off x="6858000" y="5702300"/>
            <a:ext cx="10668000" cy="25400"/>
          </a:xfrm>
          <a:prstGeom prst="rect">
            <a:avLst/>
          </a:prstGeom>
          <a:solidFill>
            <a:srgbClr val="9CA3AF"/>
          </a:solidFill>
          <a:ln>
            <a:solidFill>
              <a:srgbClr val="9CA3AF"/>
            </a:solidFill>
          </a:ln>
        </p:spPr>
      </p:sp>
      <p:sp>
        <p:nvSpPr>
          <p:cNvPr name="AutoShape 9" id="9"/>
          <p:cNvSpPr/>
          <p:nvPr/>
        </p:nvSpPr>
        <p:spPr>
          <a:xfrm rot="10800000">
            <a:off x="10414000" y="5702300"/>
            <a:ext cx="7112000" cy="25400"/>
          </a:xfrm>
          <a:prstGeom prst="rect">
            <a:avLst/>
          </a:prstGeom>
          <a:solidFill>
            <a:srgbClr val="9CA3AF"/>
          </a:solidFill>
          <a:ln>
            <a:solidFill>
              <a:srgbClr val="9CA3AF"/>
            </a:solidFill>
          </a:ln>
        </p:spPr>
      </p:sp>
      <p:sp>
        <p:nvSpPr>
          <p:cNvPr name="AutoShape 10" id="10"/>
          <p:cNvSpPr/>
          <p:nvPr/>
        </p:nvSpPr>
        <p:spPr>
          <a:xfrm>
            <a:off x="10871200" y="1981200"/>
            <a:ext cx="2794000" cy="1270000"/>
          </a:xfrm>
          <a:prstGeom prst="round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</p:sp>
      <p:sp>
        <p:nvSpPr>
          <p:cNvPr name="AutoShape 11" id="11"/>
          <p:cNvSpPr/>
          <p:nvPr/>
        </p:nvSpPr>
        <p:spPr>
          <a:xfrm>
            <a:off x="5537200" y="5156200"/>
            <a:ext cx="2794000" cy="1270000"/>
          </a:xfrm>
          <a:prstGeom prst="round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</p:sp>
      <p:sp>
        <p:nvSpPr>
          <p:cNvPr name="AutoShape 12" id="12"/>
          <p:cNvSpPr/>
          <p:nvPr/>
        </p:nvSpPr>
        <p:spPr>
          <a:xfrm>
            <a:off x="9093200" y="5156200"/>
            <a:ext cx="2794000" cy="1270000"/>
          </a:xfrm>
          <a:prstGeom prst="round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</p:sp>
      <p:sp>
        <p:nvSpPr>
          <p:cNvPr name="AutoShape 13" id="13"/>
          <p:cNvSpPr/>
          <p:nvPr/>
        </p:nvSpPr>
        <p:spPr>
          <a:xfrm>
            <a:off x="12649200" y="5156200"/>
            <a:ext cx="2794000" cy="1270000"/>
          </a:xfrm>
          <a:prstGeom prst="round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</p:sp>
      <p:sp>
        <p:nvSpPr>
          <p:cNvPr name="AutoShape 14" id="14"/>
          <p:cNvSpPr/>
          <p:nvPr/>
        </p:nvSpPr>
        <p:spPr>
          <a:xfrm>
            <a:off x="16205200" y="5156200"/>
            <a:ext cx="2794000" cy="1270000"/>
          </a:xfrm>
          <a:prstGeom prst="round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</p:sp>
      <p:sp>
        <p:nvSpPr>
          <p:cNvPr name="AutoShape 15" id="15"/>
          <p:cNvSpPr/>
          <p:nvPr/>
        </p:nvSpPr>
        <p:spPr>
          <a:xfrm>
            <a:off x="7315200" y="8331200"/>
            <a:ext cx="2794000" cy="1270000"/>
          </a:xfrm>
          <a:prstGeom prst="flowChartMagneticDisk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</p:sp>
      <p:sp>
        <p:nvSpPr>
          <p:cNvPr name="AutoShape 16" id="16"/>
          <p:cNvSpPr/>
          <p:nvPr/>
        </p:nvSpPr>
        <p:spPr>
          <a:xfrm>
            <a:off x="10871200" y="8331200"/>
            <a:ext cx="2794000" cy="1270000"/>
          </a:xfrm>
          <a:prstGeom prst="flowChartMagneticDisk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</p:sp>
      <p:sp>
        <p:nvSpPr>
          <p:cNvPr name="AutoShape 17" id="17"/>
          <p:cNvSpPr/>
          <p:nvPr/>
        </p:nvSpPr>
        <p:spPr>
          <a:xfrm>
            <a:off x="14427200" y="8331200"/>
            <a:ext cx="2794000" cy="1270000"/>
          </a:xfrm>
          <a:prstGeom prst="flowChartMagneticDisk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</p:sp>
      <p:sp>
        <p:nvSpPr>
          <p:cNvPr name="AutoShape 18" id="18"/>
          <p:cNvSpPr/>
          <p:nvPr/>
        </p:nvSpPr>
        <p:spPr>
          <a:xfrm>
            <a:off x="10795000" y="1905000"/>
            <a:ext cx="2794000" cy="127000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FFFFFF">
                <a:alpha val="39216"/>
              </a:srgbClr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600" b="true">
                <a:solidFill>
                  <a:srgbClr val="FFFFFF"/>
                </a:solidFill>
              </a:rPr>
              <a:t>netflix-zuul</a:t>
            </a:r>
            <a:r>
              <a:rPr lang="en-US" sz="1100" i="true">
                <a:solidFill>
                  <a:srgbClr val="F0F0F0"/>
                </a:solidFill>
              </a:rPr>
              <a:t>
gateway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>
            <a:off x="5461000" y="5080000"/>
            <a:ext cx="2794000" cy="1270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>
                <a:alpha val="39216"/>
              </a:srgbClr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600" b="true">
                <a:solidFill>
                  <a:srgbClr val="FFFFFF"/>
                </a:solidFill>
              </a:rPr>
              <a:t>movie-service</a:t>
            </a:r>
            <a:r>
              <a:rPr lang="en-US" sz="1100" i="true">
                <a:solidFill>
                  <a:srgbClr val="F0F0F0"/>
                </a:solidFill>
              </a:rPr>
              <a:t>
java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>
            <a:off x="9017000" y="5080000"/>
            <a:ext cx="2794000" cy="1270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>
                <a:alpha val="39216"/>
              </a:srgbClr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600" b="true">
                <a:solidFill>
                  <a:srgbClr val="FFFFFF"/>
                </a:solidFill>
              </a:rPr>
              <a:t>user-service</a:t>
            </a:r>
            <a:r>
              <a:rPr lang="en-US" sz="1100" i="true">
                <a:solidFill>
                  <a:srgbClr val="F0F0F0"/>
                </a:solidFill>
              </a:rPr>
              <a:t>
node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>
            <a:off x="12573000" y="5080000"/>
            <a:ext cx="2794000" cy="1270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>
                <a:alpha val="39216"/>
              </a:srgbClr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600" b="true">
                <a:solidFill>
                  <a:srgbClr val="FFFFFF"/>
                </a:solidFill>
              </a:rPr>
              <a:t>search-service</a:t>
            </a:r>
            <a:r>
              <a:rPr lang="en-US" sz="1100" i="true">
                <a:solidFill>
                  <a:srgbClr val="F0F0F0"/>
                </a:solidFill>
              </a:rPr>
              <a:t>
python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>
            <a:off x="16129000" y="5080000"/>
            <a:ext cx="2794000" cy="1270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>
                <a:alpha val="39216"/>
              </a:srgbClr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600" b="true">
                <a:solidFill>
                  <a:srgbClr val="FFFFFF"/>
                </a:solidFill>
              </a:rPr>
              <a:t>recommendation-engine</a:t>
            </a:r>
            <a:r>
              <a:rPr lang="en-US" sz="1100" i="true">
                <a:solidFill>
                  <a:srgbClr val="F0F0F0"/>
                </a:solidFill>
              </a:rPr>
              <a:t>
spark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>
            <a:off x="7239000" y="8255000"/>
            <a:ext cx="2794000" cy="1270000"/>
          </a:xfrm>
          <a:prstGeom prst="flowChartMagneticDisk">
            <a:avLst/>
          </a:prstGeom>
          <a:solidFill>
            <a:srgbClr val="EA580C"/>
          </a:solidFill>
          <a:ln w="12700">
            <a:solidFill>
              <a:srgbClr val="FFFFFF">
                <a:alpha val="39216"/>
              </a:srgbClr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600" b="true">
                <a:solidFill>
                  <a:srgbClr val="FFFFFF"/>
                </a:solidFill>
              </a:rPr>
              <a:t>cassandra-movies</a:t>
            </a:r>
            <a:r>
              <a:rPr lang="en-US" sz="1100" i="true">
                <a:solidFill>
                  <a:srgbClr val="F0F0F0"/>
                </a:solidFill>
              </a:rPr>
              <a:t>
cassandra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>
            <a:off x="10795000" y="8255000"/>
            <a:ext cx="2794000" cy="1270000"/>
          </a:xfrm>
          <a:prstGeom prst="flowChartMagneticDisk">
            <a:avLst/>
          </a:prstGeom>
          <a:solidFill>
            <a:srgbClr val="EA580C"/>
          </a:solidFill>
          <a:ln w="12700">
            <a:solidFill>
              <a:srgbClr val="FFFFFF">
                <a:alpha val="39216"/>
              </a:srgbClr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600" b="true">
                <a:solidFill>
                  <a:srgbClr val="FFFFFF"/>
                </a:solidFill>
              </a:rPr>
              <a:t>cassandra-users</a:t>
            </a:r>
            <a:r>
              <a:rPr lang="en-US" sz="1100" i="true">
                <a:solidFill>
                  <a:srgbClr val="F0F0F0"/>
                </a:solidFill>
              </a:rPr>
              <a:t>
cassandra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>
            <a:off x="14351000" y="8255000"/>
            <a:ext cx="2794000" cy="1270000"/>
          </a:xfrm>
          <a:prstGeom prst="flowChartMagneticDisk">
            <a:avLst/>
          </a:prstGeom>
          <a:solidFill>
            <a:srgbClr val="EA580C"/>
          </a:solidFill>
          <a:ln w="12700">
            <a:solidFill>
              <a:srgbClr val="FFFFFF">
                <a:alpha val="39216"/>
              </a:srgbClr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600" b="true">
                <a:solidFill>
                  <a:srgbClr val="FFFFFF"/>
                </a:solidFill>
              </a:rPr>
              <a:t>elastic-search</a:t>
            </a:r>
            <a:r>
              <a:rPr lang="en-US" sz="1100" i="true">
                <a:solidFill>
                  <a:srgbClr val="F0F0F0"/>
                </a:solidFill>
              </a:rPr>
              <a:t>
elastic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