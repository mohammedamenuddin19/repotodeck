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4384000" cy="25400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093200" y="1346200"/>
            <a:ext cx="2794000" cy="1270000"/>
          </a:xfrm>
          <a:prstGeom prst="round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</p:sp>
      <p:sp>
        <p:nvSpPr>
          <p:cNvPr name="AutoShape 3" id="3"/>
          <p:cNvSpPr/>
          <p:nvPr/>
        </p:nvSpPr>
        <p:spPr>
          <a:xfrm>
            <a:off x="12649200" y="1346200"/>
            <a:ext cx="2794000" cy="1270000"/>
          </a:xfrm>
          <a:prstGeom prst="round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</p:sp>
      <p:sp>
        <p:nvSpPr>
          <p:cNvPr name="AutoShape 4" id="4"/>
          <p:cNvSpPr/>
          <p:nvPr/>
        </p:nvSpPr>
        <p:spPr>
          <a:xfrm>
            <a:off x="9093200" y="4521200"/>
            <a:ext cx="2794000" cy="1270000"/>
          </a:xfrm>
          <a:prstGeom prst="round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</p:sp>
      <p:sp>
        <p:nvSpPr>
          <p:cNvPr name="AutoShape 5" id="5"/>
          <p:cNvSpPr/>
          <p:nvPr/>
        </p:nvSpPr>
        <p:spPr>
          <a:xfrm>
            <a:off x="12649200" y="4521200"/>
            <a:ext cx="2794000" cy="1270000"/>
          </a:xfrm>
          <a:prstGeom prst="round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</p:sp>
      <p:sp>
        <p:nvSpPr>
          <p:cNvPr name="AutoShape 6" id="6"/>
          <p:cNvSpPr/>
          <p:nvPr/>
        </p:nvSpPr>
        <p:spPr>
          <a:xfrm>
            <a:off x="5537200" y="7696200"/>
            <a:ext cx="2794000" cy="1270000"/>
          </a:xfrm>
          <a:prstGeom prst="flowChartMagneticDisk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</p:sp>
      <p:sp>
        <p:nvSpPr>
          <p:cNvPr name="AutoShape 7" id="7"/>
          <p:cNvSpPr/>
          <p:nvPr/>
        </p:nvSpPr>
        <p:spPr>
          <a:xfrm>
            <a:off x="9093200" y="7696200"/>
            <a:ext cx="2794000" cy="1270000"/>
          </a:xfrm>
          <a:prstGeom prst="flowChartMagneticDisk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</p:sp>
      <p:sp>
        <p:nvSpPr>
          <p:cNvPr name="AutoShape 8" id="8"/>
          <p:cNvSpPr/>
          <p:nvPr/>
        </p:nvSpPr>
        <p:spPr>
          <a:xfrm>
            <a:off x="12649200" y="7696200"/>
            <a:ext cx="2794000" cy="1270000"/>
          </a:xfrm>
          <a:prstGeom prst="flowChartMagneticDisk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</p:sp>
      <p:sp>
        <p:nvSpPr>
          <p:cNvPr name="AutoShape 9" id="9"/>
          <p:cNvSpPr/>
          <p:nvPr/>
        </p:nvSpPr>
        <p:spPr>
          <a:xfrm>
            <a:off x="16205200" y="7696200"/>
            <a:ext cx="2794000" cy="1270000"/>
          </a:xfrm>
          <a:prstGeom prst="flowChartMagneticDisk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</p:sp>
      <p:sp>
        <p:nvSpPr>
          <p:cNvPr name="AutoShape 10" id="10"/>
          <p:cNvSpPr/>
          <p:nvPr/>
        </p:nvSpPr>
        <p:spPr>
          <a:xfrm>
            <a:off x="9017000" y="1270000"/>
            <a:ext cx="2794000" cy="127000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FFFFFF">
                <a:alpha val="39216"/>
              </a:srgbClr>
            </a:solidFill>
          </a:ln>
        </p:spPr>
        <p:txBody>
          <a:bodyPr anchor="t" rtlCol="false"/>
          <a:lstStyle/>
          <a:p>
            <a:pPr algn="ctr">
              <a:defRPr/>
            </a:pPr>
            <a:r>
              <a:rPr lang="en-US" sz="1600" b="true">
                <a:solidFill>
                  <a:srgbClr val="FFFFFF"/>
                </a:solidFill>
              </a:rPr>
              <a:t>web-ui</a:t>
            </a:r>
            <a:r>
              <a:rPr lang="en-US" sz="1100" i="true">
                <a:solidFill>
                  <a:srgbClr val="F0F0F0"/>
                </a:solidFill>
              </a:rPr>
              <a:t>
nginx:latest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>
            <a:off x="12573000" y="1270000"/>
            <a:ext cx="2794000" cy="127000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FFFFFF">
                <a:alpha val="39216"/>
              </a:srgbClr>
            </a:solidFill>
          </a:ln>
        </p:spPr>
        <p:txBody>
          <a:bodyPr anchor="t" rtlCol="false"/>
          <a:lstStyle/>
          <a:p>
            <a:pPr algn="ctr">
              <a:defRPr/>
            </a:pPr>
            <a:r>
              <a:rPr lang="en-US" sz="1600" b="true">
                <a:solidFill>
                  <a:srgbClr val="FFFFFF"/>
                </a:solidFill>
              </a:rPr>
              <a:t>api-gateway</a:t>
            </a:r>
            <a:r>
              <a:rPr lang="en-US" sz="1100" i="true">
                <a:solidFill>
                  <a:srgbClr val="F0F0F0"/>
                </a:solidFill>
              </a:rPr>
              <a:t>
netflix-zuul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>
            <a:off x="9017000" y="4445000"/>
            <a:ext cx="2794000" cy="1270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FFFFFF">
                <a:alpha val="39216"/>
              </a:srgbClr>
            </a:solidFill>
          </a:ln>
        </p:spPr>
        <p:txBody>
          <a:bodyPr anchor="t" rtlCol="false"/>
          <a:lstStyle/>
          <a:p>
            <a:pPr algn="ctr">
              <a:defRPr/>
            </a:pPr>
            <a:r>
              <a:rPr lang="en-US" sz="1600" b="true">
                <a:solidFill>
                  <a:srgbClr val="FFFFFF"/>
                </a:solidFill>
              </a:rPr>
              <a:t>payment-processor</a:t>
            </a:r>
            <a:r>
              <a:rPr lang="en-US" sz="1100" i="true">
                <a:solidFill>
                  <a:srgbClr val="F0F0F0"/>
                </a:solidFill>
              </a:rPr>
              <a:t>
java:17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>
            <a:off x="12573000" y="4445000"/>
            <a:ext cx="2794000" cy="1270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FFFFFF">
                <a:alpha val="39216"/>
              </a:srgbClr>
            </a:solidFill>
          </a:ln>
        </p:spPr>
        <p:txBody>
          <a:bodyPr anchor="t" rtlCol="false"/>
          <a:lstStyle/>
          <a:p>
            <a:pPr algn="ctr">
              <a:defRPr/>
            </a:pPr>
            <a:r>
              <a:rPr lang="en-US" sz="1600" b="true">
                <a:solidFill>
                  <a:srgbClr val="FFFFFF"/>
                </a:solidFill>
              </a:rPr>
              <a:t>auth-worker</a:t>
            </a:r>
            <a:r>
              <a:rPr lang="en-US" sz="1100" i="true">
                <a:solidFill>
                  <a:srgbClr val="F0F0F0"/>
                </a:solidFill>
              </a:rPr>
              <a:t>
python:3.9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>
            <a:off x="5461000" y="7620000"/>
            <a:ext cx="2794000" cy="1270000"/>
          </a:xfrm>
          <a:prstGeom prst="flowChartMagneticDisk">
            <a:avLst/>
          </a:prstGeom>
          <a:solidFill>
            <a:srgbClr val="EA580C"/>
          </a:solidFill>
          <a:ln w="12700">
            <a:solidFill>
              <a:srgbClr val="FFFFFF">
                <a:alpha val="39216"/>
              </a:srgbClr>
            </a:solidFill>
          </a:ln>
        </p:spPr>
        <p:txBody>
          <a:bodyPr anchor="t" rtlCol="false"/>
          <a:lstStyle/>
          <a:p>
            <a:pPr algn="ctr">
              <a:defRPr/>
            </a:pPr>
            <a:r>
              <a:rPr lang="en-US" sz="1600" b="true">
                <a:solidFill>
                  <a:srgbClr val="FFFFFF"/>
                </a:solidFill>
              </a:rPr>
              <a:t>users-data</a:t>
            </a:r>
            <a:r>
              <a:rPr lang="en-US" sz="1100" i="true">
                <a:solidFill>
                  <a:srgbClr val="F0F0F0"/>
                </a:solidFill>
              </a:rPr>
              <a:t>
cassandra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>
            <a:off x="9017000" y="7620000"/>
            <a:ext cx="2794000" cy="1270000"/>
          </a:xfrm>
          <a:prstGeom prst="flowChartMagneticDisk">
            <a:avLst/>
          </a:prstGeom>
          <a:solidFill>
            <a:srgbClr val="EA580C"/>
          </a:solidFill>
          <a:ln w="12700">
            <a:solidFill>
              <a:srgbClr val="FFFFFF">
                <a:alpha val="39216"/>
              </a:srgbClr>
            </a:solidFill>
          </a:ln>
        </p:spPr>
        <p:txBody>
          <a:bodyPr anchor="t" rtlCol="false"/>
          <a:lstStyle/>
          <a:p>
            <a:pPr algn="ctr">
              <a:defRPr/>
            </a:pPr>
            <a:r>
              <a:rPr lang="en-US" sz="1600" b="true">
                <a:solidFill>
                  <a:srgbClr val="FFFFFF"/>
                </a:solidFill>
              </a:rPr>
              <a:t>search-index</a:t>
            </a:r>
            <a:r>
              <a:rPr lang="en-US" sz="1100" i="true">
                <a:solidFill>
                  <a:srgbClr val="F0F0F0"/>
                </a:solidFill>
              </a:rPr>
              <a:t>
elastic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>
            <a:off x="12573000" y="7620000"/>
            <a:ext cx="2794000" cy="1270000"/>
          </a:xfrm>
          <a:prstGeom prst="flowChartMagneticDisk">
            <a:avLst/>
          </a:prstGeom>
          <a:solidFill>
            <a:srgbClr val="EA580C"/>
          </a:solidFill>
          <a:ln w="12700">
            <a:solidFill>
              <a:srgbClr val="FFFFFF">
                <a:alpha val="39216"/>
              </a:srgbClr>
            </a:solidFill>
          </a:ln>
        </p:spPr>
        <p:txBody>
          <a:bodyPr anchor="t" rtlCol="false"/>
          <a:lstStyle/>
          <a:p>
            <a:pPr algn="ctr">
              <a:defRPr/>
            </a:pPr>
            <a:r>
              <a:rPr lang="en-US" sz="1600" b="true">
                <a:solidFill>
                  <a:srgbClr val="FFFFFF"/>
                </a:solidFill>
              </a:rPr>
              <a:t>event-bus</a:t>
            </a:r>
            <a:r>
              <a:rPr lang="en-US" sz="1100" i="true">
                <a:solidFill>
                  <a:srgbClr val="F0F0F0"/>
                </a:solidFill>
              </a:rPr>
              <a:t>
kafka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>
            <a:off x="16129000" y="7620000"/>
            <a:ext cx="2794000" cy="1270000"/>
          </a:xfrm>
          <a:prstGeom prst="flowChartMagneticDisk">
            <a:avLst/>
          </a:prstGeom>
          <a:solidFill>
            <a:srgbClr val="EA580C"/>
          </a:solidFill>
          <a:ln w="12700">
            <a:solidFill>
              <a:srgbClr val="FFFFFF">
                <a:alpha val="39216"/>
              </a:srgbClr>
            </a:solidFill>
          </a:ln>
        </p:spPr>
        <p:txBody>
          <a:bodyPr anchor="t" rtlCol="false"/>
          <a:lstStyle/>
          <a:p>
            <a:pPr algn="ctr">
              <a:defRPr/>
            </a:pPr>
            <a:r>
              <a:rPr lang="en-US" sz="1600" b="true">
                <a:solidFill>
                  <a:srgbClr val="FFFFFF"/>
                </a:solidFill>
              </a:rPr>
              <a:t>blob-store</a:t>
            </a:r>
            <a:r>
              <a:rPr lang="en-US" sz="1100" i="true">
                <a:solidFill>
                  <a:srgbClr val="F0F0F0"/>
                </a:solidFill>
              </a:rPr>
              <a:t>
minio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