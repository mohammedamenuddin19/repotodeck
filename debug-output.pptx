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461000" y="1524000"/>
            <a:ext cx="2286000" cy="1143000"/>
          </a:xfrm>
          <a:prstGeom prst="roundRect">
            <a:avLst/>
          </a:prstGeom>
          <a:solidFill>
            <a:srgbClr val="0072C6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load-balancer</a:t>
            </a:r>
            <a:r>
              <a:rPr lang="en-US" sz="1000">
                <a:solidFill>
                  <a:srgbClr val="E6E6E6"/>
                </a:solidFill>
              </a:rPr>
              <a:t>
(nginx)</a:t>
            </a:r>
          </a:p>
        </p:txBody>
      </p:sp>
      <p:sp>
        <p:nvSpPr>
          <p:cNvPr name="AutoShape 3" id="3"/>
          <p:cNvSpPr/>
          <p:nvPr/>
        </p:nvSpPr>
        <p:spPr>
          <a:xfrm>
            <a:off x="8509000" y="1524000"/>
            <a:ext cx="2286000" cy="1143000"/>
          </a:xfrm>
          <a:prstGeom prst="roundRect">
            <a:avLst/>
          </a:prstGeom>
          <a:solidFill>
            <a:srgbClr val="0072C6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web-app</a:t>
            </a:r>
            <a:r>
              <a:rPr lang="en-US" sz="1000">
                <a:solidFill>
                  <a:srgbClr val="E6E6E6"/>
                </a:solidFill>
              </a:rPr>
              <a:t>
(react)</a:t>
            </a:r>
          </a:p>
        </p:txBody>
      </p:sp>
      <p:sp>
        <p:nvSpPr>
          <p:cNvPr name="AutoShape 4" id="4"/>
          <p:cNvSpPr/>
          <p:nvPr/>
        </p:nvSpPr>
        <p:spPr>
          <a:xfrm>
            <a:off x="3937000" y="3810000"/>
            <a:ext cx="2286000" cy="1143000"/>
          </a:xfrm>
          <a:prstGeom prst="roundRect">
            <a:avLst/>
          </a:prstGeom>
          <a:solidFill>
            <a:srgbClr val="0072C6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api-gateway</a:t>
            </a:r>
            <a:r>
              <a:rPr lang="en-US" sz="1000">
                <a:solidFill>
                  <a:srgbClr val="E6E6E6"/>
                </a:solidFill>
              </a:rPr>
              <a:t>
(spring)</a:t>
            </a:r>
          </a:p>
        </p:txBody>
      </p:sp>
      <p:sp>
        <p:nvSpPr>
          <p:cNvPr name="AutoShape 5" id="5"/>
          <p:cNvSpPr/>
          <p:nvPr/>
        </p:nvSpPr>
        <p:spPr>
          <a:xfrm>
            <a:off x="6985000" y="3810000"/>
            <a:ext cx="2286000" cy="1143000"/>
          </a:xfrm>
          <a:prstGeom prst="roundRect">
            <a:avLst/>
          </a:prstGeom>
          <a:solidFill>
            <a:srgbClr val="0072C6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auth-service</a:t>
            </a:r>
            <a:r>
              <a:rPr lang="en-US" sz="1000">
                <a:solidFill>
                  <a:srgbClr val="E6E6E6"/>
                </a:solidFill>
              </a:rPr>
              <a:t>
(node)</a:t>
            </a:r>
          </a:p>
        </p:txBody>
      </p:sp>
      <p:sp>
        <p:nvSpPr>
          <p:cNvPr name="AutoShape 6" id="6"/>
          <p:cNvSpPr/>
          <p:nvPr/>
        </p:nvSpPr>
        <p:spPr>
          <a:xfrm>
            <a:off x="10033000" y="3810000"/>
            <a:ext cx="2286000" cy="1143000"/>
          </a:xfrm>
          <a:prstGeom prst="roundRect">
            <a:avLst/>
          </a:prstGeom>
          <a:solidFill>
            <a:srgbClr val="0072C6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payment-service</a:t>
            </a:r>
            <a:r>
              <a:rPr lang="en-US" sz="1000">
                <a:solidFill>
                  <a:srgbClr val="E6E6E6"/>
                </a:solidFill>
              </a:rPr>
              <a:t>
(go)</a:t>
            </a:r>
          </a:p>
        </p:txBody>
      </p:sp>
      <p:sp>
        <p:nvSpPr>
          <p:cNvPr name="AutoShape 7" id="7"/>
          <p:cNvSpPr/>
          <p:nvPr/>
        </p:nvSpPr>
        <p:spPr>
          <a:xfrm>
            <a:off x="3937000" y="6096000"/>
            <a:ext cx="2286000" cy="1143000"/>
          </a:xfrm>
          <a:prstGeom prst="flowChartMagneticDisk">
            <a:avLst/>
          </a:prstGeom>
          <a:solidFill>
            <a:srgbClr val="FF8C00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postgres-db</a:t>
            </a:r>
            <a:r>
              <a:rPr lang="en-US" sz="1000">
                <a:solidFill>
                  <a:srgbClr val="E6E6E6"/>
                </a:solidFill>
              </a:rPr>
              <a:t>
(postgres)</a:t>
            </a:r>
          </a:p>
        </p:txBody>
      </p:sp>
      <p:sp>
        <p:nvSpPr>
          <p:cNvPr name="AutoShape 8" id="8"/>
          <p:cNvSpPr/>
          <p:nvPr/>
        </p:nvSpPr>
        <p:spPr>
          <a:xfrm>
            <a:off x="6985000" y="6096000"/>
            <a:ext cx="2286000" cy="1143000"/>
          </a:xfrm>
          <a:prstGeom prst="flowChartMagneticDisk">
            <a:avLst/>
          </a:prstGeom>
          <a:solidFill>
            <a:srgbClr val="FF8C00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mysql-db</a:t>
            </a:r>
            <a:r>
              <a:rPr lang="en-US" sz="1000">
                <a:solidFill>
                  <a:srgbClr val="E6E6E6"/>
                </a:solidFill>
              </a:rPr>
              <a:t>
(mysql)</a:t>
            </a:r>
          </a:p>
        </p:txBody>
      </p:sp>
      <p:sp>
        <p:nvSpPr>
          <p:cNvPr name="AutoShape 9" id="9"/>
          <p:cNvSpPr/>
          <p:nvPr/>
        </p:nvSpPr>
        <p:spPr>
          <a:xfrm>
            <a:off x="10033000" y="6096000"/>
            <a:ext cx="2286000" cy="1143000"/>
          </a:xfrm>
          <a:prstGeom prst="flowChartMagneticDisk">
            <a:avLst/>
          </a:prstGeom>
          <a:solidFill>
            <a:srgbClr val="FF8C00"/>
          </a:solidFill>
          <a:ln w="19050">
            <a:solidFill>
              <a:srgbClr val="404040"/>
            </a:solidFill>
          </a:ln>
        </p:spPr>
        <p:txBody>
          <a:p>
            <a:pPr algn="ctr"/>
            <a:r>
              <a:rPr lang="en-US" sz="1400" b="true">
                <a:solidFill>
                  <a:srgbClr val="FFFFFF"/>
                </a:solidFill>
                <a:latin typeface="DejaVu Sans"/>
              </a:rPr>
              <a:t>redis</a:t>
            </a:r>
            <a:r>
              <a:rPr lang="en-US" sz="1000">
                <a:solidFill>
                  <a:srgbClr val="E6E6E6"/>
                </a:solidFill>
              </a:rPr>
              <a:t>
(redis)</a:t>
            </a:r>
          </a:p>
        </p:txBody>
      </p:sp>
      <p:cxnSp>
        <p:nvCxnSpPr>
          <p:cNvPr name="Connector 10" id="10"/>
          <p:cNvCxnSpPr/>
          <p:nvPr/>
        </p:nvCxnSpPr>
        <p:spPr>
          <a:xfrm>
            <a:off x="6604000" y="2095500"/>
            <a:ext cx="3048000" cy="127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1" id="11"/>
          <p:cNvCxnSpPr/>
          <p:nvPr/>
        </p:nvCxnSpPr>
        <p:spPr>
          <a:xfrm flipH="true">
            <a:off x="5080000" y="2095500"/>
            <a:ext cx="4572000" cy="22860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2" id="12"/>
          <p:cNvCxnSpPr/>
          <p:nvPr/>
        </p:nvCxnSpPr>
        <p:spPr>
          <a:xfrm>
            <a:off x="5080000" y="4381500"/>
            <a:ext cx="3048000" cy="127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3" id="13"/>
          <p:cNvCxnSpPr/>
          <p:nvPr/>
        </p:nvCxnSpPr>
        <p:spPr>
          <a:xfrm>
            <a:off x="5080000" y="4381500"/>
            <a:ext cx="6096000" cy="127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4" id="14"/>
          <p:cNvCxnSpPr/>
          <p:nvPr/>
        </p:nvCxnSpPr>
        <p:spPr>
          <a:xfrm flipH="true">
            <a:off x="5080000" y="4381500"/>
            <a:ext cx="3048000" cy="22860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5" id="15"/>
          <p:cNvCxnSpPr/>
          <p:nvPr/>
        </p:nvCxnSpPr>
        <p:spPr>
          <a:xfrm flipH="true">
            <a:off x="8128000" y="4381500"/>
            <a:ext cx="3048000" cy="22860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  <p:cxnSp>
        <p:nvCxnSpPr>
          <p:cNvPr name="Connector 16" id="16"/>
          <p:cNvCxnSpPr/>
          <p:nvPr/>
        </p:nvCxnSpPr>
        <p:spPr>
          <a:xfrm>
            <a:off x="11176000" y="4381500"/>
            <a:ext cx="12700" cy="2286000"/>
          </a:xfrm>
          <a:prstGeom prst="line">
            <a:avLst/>
          </a:prstGeom>
          <a:ln w="19050">
            <a:solidFill>
              <a:srgbClr val="808080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