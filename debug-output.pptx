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4953000" y="1524000"/>
            <a:ext cx="2794000" cy="1270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400" b="true">
                <a:solidFill>
                  <a:srgbClr val="FFFFFF"/>
                </a:solidFill>
              </a:rPr>
              <a:t>load-balancer</a:t>
            </a:r>
            <a:r>
              <a:rPr lang="en-US" sz="1000">
                <a:solidFill>
                  <a:srgbClr val="E6E6E6"/>
                </a:solidFill>
              </a:rPr>
              <a:t>
(nginx)</a:t>
            </a:r>
            <a:endParaRPr lang="en-US" sz="1100"/>
          </a:p>
        </p:txBody>
      </p:sp>
      <p:sp>
        <p:nvSpPr>
          <p:cNvPr name="AutoShape 3" id="3"/>
          <p:cNvSpPr/>
          <p:nvPr/>
        </p:nvSpPr>
        <p:spPr>
          <a:xfrm>
            <a:off x="8509000" y="1524000"/>
            <a:ext cx="2794000" cy="1270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400" b="true">
                <a:solidFill>
                  <a:srgbClr val="FFFFFF"/>
                </a:solidFill>
              </a:rPr>
              <a:t>web-app</a:t>
            </a:r>
            <a:r>
              <a:rPr lang="en-US" sz="1000">
                <a:solidFill>
                  <a:srgbClr val="E6E6E6"/>
                </a:solidFill>
              </a:rPr>
              <a:t>
(react)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>
            <a:off x="3175000" y="4064000"/>
            <a:ext cx="2794000" cy="1270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400" b="true">
                <a:solidFill>
                  <a:srgbClr val="FFFFFF"/>
                </a:solidFill>
              </a:rPr>
              <a:t>api-gateway</a:t>
            </a:r>
            <a:r>
              <a:rPr lang="en-US" sz="1000">
                <a:solidFill>
                  <a:srgbClr val="E6E6E6"/>
                </a:solidFill>
              </a:rPr>
              <a:t>
(spring)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731000" y="4064000"/>
            <a:ext cx="2794000" cy="1270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400" b="true">
                <a:solidFill>
                  <a:srgbClr val="FFFFFF"/>
                </a:solidFill>
              </a:rPr>
              <a:t>auth-service</a:t>
            </a:r>
            <a:r>
              <a:rPr lang="en-US" sz="1000">
                <a:solidFill>
                  <a:srgbClr val="E6E6E6"/>
                </a:solidFill>
              </a:rPr>
              <a:t>
(node)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0287000" y="4064000"/>
            <a:ext cx="2794000" cy="1270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400" b="true">
                <a:solidFill>
                  <a:srgbClr val="FFFFFF"/>
                </a:solidFill>
              </a:rPr>
              <a:t>payment-service</a:t>
            </a:r>
            <a:r>
              <a:rPr lang="en-US" sz="1000">
                <a:solidFill>
                  <a:srgbClr val="E6E6E6"/>
                </a:solidFill>
              </a:rPr>
              <a:t>
(go)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3175000" y="6604000"/>
            <a:ext cx="2794000" cy="1270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400" b="true">
                <a:solidFill>
                  <a:srgbClr val="FFFFFF"/>
                </a:solidFill>
              </a:rPr>
              <a:t>postgres-db</a:t>
            </a:r>
            <a:r>
              <a:rPr lang="en-US" sz="1000">
                <a:solidFill>
                  <a:srgbClr val="E6E6E6"/>
                </a:solidFill>
              </a:rPr>
              <a:t>
(postgres)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731000" y="6604000"/>
            <a:ext cx="2794000" cy="1270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400" b="true">
                <a:solidFill>
                  <a:srgbClr val="FFFFFF"/>
                </a:solidFill>
              </a:rPr>
              <a:t>mysql-db</a:t>
            </a:r>
            <a:r>
              <a:rPr lang="en-US" sz="1000">
                <a:solidFill>
                  <a:srgbClr val="E6E6E6"/>
                </a:solidFill>
              </a:rPr>
              <a:t>
(mysql)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>
            <a:off x="10287000" y="6604000"/>
            <a:ext cx="2794000" cy="1270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bodyPr anchor="t" rtlCol="false"/>
          <a:lstStyle/>
          <a:p>
            <a:pPr algn="ctr">
              <a:defRPr/>
            </a:pPr>
            <a:r>
              <a:rPr lang="en-US" sz="1400" b="true">
                <a:solidFill>
                  <a:srgbClr val="FFFFFF"/>
                </a:solidFill>
              </a:rPr>
              <a:t>redis</a:t>
            </a:r>
            <a:r>
              <a:rPr lang="en-US" sz="1000">
                <a:solidFill>
                  <a:srgbClr val="E6E6E6"/>
                </a:solidFill>
              </a:rPr>
              <a:t>
(redis)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>
            <a:off x="6350000" y="2146300"/>
            <a:ext cx="3556000" cy="25400"/>
          </a:xfrm>
          <a:prstGeom prst="rect">
            <a:avLst/>
          </a:prstGeom>
          <a:solidFill>
            <a:srgbClr val="808080"/>
          </a:solidFill>
          <a:ln>
            <a:solidFill>
              <a:srgbClr val="808080"/>
            </a:solidFill>
          </a:ln>
        </p:spPr>
      </p:sp>
      <p:sp>
        <p:nvSpPr>
          <p:cNvPr name="AutoShape 11" id="11"/>
          <p:cNvSpPr/>
          <p:nvPr/>
        </p:nvSpPr>
        <p:spPr>
          <a:xfrm rot="9996450">
            <a:off x="4497447" y="3416300"/>
            <a:ext cx="5483106" cy="25400"/>
          </a:xfrm>
          <a:prstGeom prst="rect">
            <a:avLst/>
          </a:prstGeom>
          <a:solidFill>
            <a:srgbClr val="808080"/>
          </a:solidFill>
          <a:ln>
            <a:solidFill>
              <a:srgbClr val="808080"/>
            </a:solidFill>
          </a:ln>
        </p:spPr>
      </p:sp>
      <p:sp>
        <p:nvSpPr>
          <p:cNvPr name="AutoShape 12" id="12"/>
          <p:cNvSpPr/>
          <p:nvPr/>
        </p:nvSpPr>
        <p:spPr>
          <a:xfrm rot="0">
            <a:off x="4572000" y="4686300"/>
            <a:ext cx="3556000" cy="25400"/>
          </a:xfrm>
          <a:prstGeom prst="rect">
            <a:avLst/>
          </a:prstGeom>
          <a:solidFill>
            <a:srgbClr val="808080"/>
          </a:solidFill>
          <a:ln>
            <a:solidFill>
              <a:srgbClr val="808080"/>
            </a:solidFill>
          </a:ln>
        </p:spPr>
      </p:sp>
      <p:sp>
        <p:nvSpPr>
          <p:cNvPr name="AutoShape 13" id="13"/>
          <p:cNvSpPr/>
          <p:nvPr/>
        </p:nvSpPr>
        <p:spPr>
          <a:xfrm rot="0">
            <a:off x="4572000" y="4686300"/>
            <a:ext cx="7112000" cy="25400"/>
          </a:xfrm>
          <a:prstGeom prst="rect">
            <a:avLst/>
          </a:prstGeom>
          <a:solidFill>
            <a:srgbClr val="808080"/>
          </a:solidFill>
          <a:ln>
            <a:solidFill>
              <a:srgbClr val="808080"/>
            </a:solidFill>
          </a:ln>
        </p:spPr>
      </p:sp>
      <p:sp>
        <p:nvSpPr>
          <p:cNvPr name="AutoShape 14" id="14"/>
          <p:cNvSpPr/>
          <p:nvPr/>
        </p:nvSpPr>
        <p:spPr>
          <a:xfrm rot="9620770">
            <a:off x="4462009" y="5956300"/>
            <a:ext cx="3775981" cy="25400"/>
          </a:xfrm>
          <a:prstGeom prst="rect">
            <a:avLst/>
          </a:prstGeom>
          <a:solidFill>
            <a:srgbClr val="808080"/>
          </a:solidFill>
          <a:ln>
            <a:solidFill>
              <a:srgbClr val="808080"/>
            </a:solidFill>
          </a:ln>
        </p:spPr>
      </p:sp>
      <p:sp>
        <p:nvSpPr>
          <p:cNvPr name="AutoShape 15" id="15"/>
          <p:cNvSpPr/>
          <p:nvPr/>
        </p:nvSpPr>
        <p:spPr>
          <a:xfrm rot="9620770">
            <a:off x="8018009" y="5956300"/>
            <a:ext cx="3775981" cy="25400"/>
          </a:xfrm>
          <a:prstGeom prst="rect">
            <a:avLst/>
          </a:prstGeom>
          <a:solidFill>
            <a:srgbClr val="808080"/>
          </a:solidFill>
          <a:ln>
            <a:solidFill>
              <a:srgbClr val="808080"/>
            </a:solidFill>
          </a:ln>
        </p:spPr>
      </p:sp>
      <p:sp>
        <p:nvSpPr>
          <p:cNvPr name="AutoShape 16" id="16"/>
          <p:cNvSpPr/>
          <p:nvPr/>
        </p:nvSpPr>
        <p:spPr>
          <a:xfrm rot="5400000">
            <a:off x="11049000" y="5956300"/>
            <a:ext cx="1270000" cy="25400"/>
          </a:xfrm>
          <a:prstGeom prst="rect">
            <a:avLst/>
          </a:prstGeom>
          <a:solidFill>
            <a:srgbClr val="808080"/>
          </a:solidFill>
          <a:ln>
            <a:solidFill>
              <a:srgbClr val="808080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